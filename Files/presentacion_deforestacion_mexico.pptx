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 perdidas (miles)</c:v>
                </c:pt>
              </c:strCache>
            </c:strRef>
          </c:tx>
          <c:spPr>
            <a:solidFill>
              <a:srgbClr val="D46B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F1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46B2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46B2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5E3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B5E3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7C59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4A7C5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6B7A6B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6B7A6B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Campeche</c:v>
                  </c:pt>
                  <c:pt idx="1">
                    <c:v>Chiapas</c:v>
                  </c:pt>
                  <c:pt idx="2">
                    <c:v>Quintana Roo</c:v>
                  </c:pt>
                  <c:pt idx="3">
                    <c:v>Yucatán</c:v>
                  </c:pt>
                  <c:pt idx="4">
                    <c:v>Veracruz</c:v>
                  </c:pt>
                  <c:pt idx="5">
                    <c:v>Oaxaca</c:v>
                  </c:pt>
                  <c:pt idx="6">
                    <c:v>Tabasco</c:v>
                  </c:pt>
                  <c:pt idx="7">
                    <c:v>Tamaulipas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907</c:v>
                </c:pt>
                <c:pt idx="1">
                  <c:v>783</c:v>
                </c:pt>
                <c:pt idx="2">
                  <c:v>600</c:v>
                </c:pt>
                <c:pt idx="3">
                  <c:v>522</c:v>
                </c:pt>
                <c:pt idx="4">
                  <c:v>496</c:v>
                </c:pt>
                <c:pt idx="5">
                  <c:v>432</c:v>
                </c:pt>
                <c:pt idx="6">
                  <c:v>164</c:v>
                </c:pt>
                <c:pt idx="7">
                  <c:v>156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A2F1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F1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1D9D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6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5F2E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6583680" y="182880"/>
            <a:ext cx="2286000" cy="2286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7BC62"/>
                </a:solidFill>
              </a:rPr>
              <a:t>VISUALIZACIÓN DE DATOS · FEBRERO 2026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" y="10058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Frontera que Avanza: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502920" y="173736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Transformación Agrícola y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02920" y="228600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Pérdida Forestal en México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02920" y="288036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DFC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(2001–2023)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502920" y="3520440"/>
            <a:ext cx="5486400" cy="36576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36393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6B"/>
                </a:solidFill>
              </a:rPr>
              <a:t>Fuentes: Global Forest Watch (Hansen/UMD) · SIAP – Secretaría de Agricultura, México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162618"/>
          </a:solidFill>
          <a:ln w="12700">
            <a:solidFill>
              <a:srgbClr val="16261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46720" y="4928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7C59"/>
                </a:solidFill>
              </a:rPr>
              <a:t>1 / 10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365760" y="4928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7C59"/>
                </a:solidFill>
              </a:rPr>
              <a:t>La Frontera que Avanza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2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7BC62"/>
                </a:solidFill>
              </a:rPr>
              <a:t>EL PROBLEMA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749040" cy="1463040"/>
          </a:xfrm>
          <a:prstGeom prst="rect">
            <a:avLst/>
          </a:prstGeom>
          <a:solidFill>
            <a:srgbClr val="1E3A21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804672"/>
            <a:ext cx="64008" cy="146304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77824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−3.1M ha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162763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DFC8"/>
                </a:solidFill>
              </a:rPr>
              <a:t>Reducción total de área agrícola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8DFC8"/>
                </a:solidFill>
              </a:rPr>
              <a:t>nacional (2001–2023)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06240" y="1417320"/>
            <a:ext cx="731520" cy="91440"/>
          </a:xfrm>
          <a:prstGeom prst="rect">
            <a:avLst/>
          </a:prstGeom>
          <a:solidFill>
            <a:srgbClr val="D46B2E"/>
          </a:solidFill>
          <a:ln w="12700">
            <a:solidFill>
              <a:srgbClr val="D46B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33088" y="1527048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6B2E"/>
                </a:solidFill>
              </a:rPr>
              <a:t>PERO...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29200" y="804672"/>
            <a:ext cx="3749040" cy="1463040"/>
          </a:xfrm>
          <a:prstGeom prst="rect">
            <a:avLst/>
          </a:prstGeom>
          <a:solidFill>
            <a:srgbClr val="3B1A0A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0" y="804672"/>
            <a:ext cx="64008" cy="1463040"/>
          </a:xfrm>
          <a:prstGeom prst="rect">
            <a:avLst/>
          </a:prstGeom>
          <a:solidFill>
            <a:srgbClr val="D46B2E"/>
          </a:solidFill>
          <a:ln w="12700">
            <a:solidFill>
              <a:srgbClr val="D46B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0" y="859536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D46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+4.9M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5120640" y="15087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7BC62"/>
                </a:solidFill>
              </a:rPr>
              <a:t>hectareas de bosque perdidas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20640" y="180136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DFC8"/>
                </a:solidFill>
              </a:rPr>
              <a:t>en esos mismos 23 años (GFW, threshold 30%)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2423160"/>
            <a:ext cx="8412480" cy="1188720"/>
          </a:xfrm>
          <a:prstGeom prst="rect">
            <a:avLst/>
          </a:prstGeom>
          <a:solidFill>
            <a:srgbClr val="253A27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94360" y="254203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"El campo mexicano no está encogiendo. Está moviéndose.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94360" y="294436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 donde se mueve, hay bosque que desaparece."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162618"/>
          </a:solidFill>
          <a:ln w="12700">
            <a:solidFill>
              <a:srgbClr val="16261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0" y="4928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7C59"/>
                </a:solidFill>
              </a:rPr>
              <a:t>2 / 10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4928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7C59"/>
                </a:solidFill>
              </a:rPr>
              <a:t>La Frontera que Avanza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A7C59"/>
                </a:solidFill>
              </a:rPr>
              <a:t>PROBLEMÁTICA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F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 que los datos agregados ocultan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78892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43000"/>
            <a:ext cx="2788920" cy="4572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123444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17373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</a:rPr>
              <a:t>Datos nacionales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2176272"/>
            <a:ext cx="2514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F1E"/>
                </a:solidFill>
              </a:rPr>
              <a:t>El área agrícola total disminuyó. A primera vista, pareciera que la presión sobre los bosques se redujo.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246120" y="1143000"/>
            <a:ext cx="278892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46120" y="1143000"/>
            <a:ext cx="2788920" cy="457200"/>
          </a:xfrm>
          <a:prstGeom prst="rect">
            <a:avLst/>
          </a:prstGeom>
          <a:solidFill>
            <a:srgbClr val="8B5E3C"/>
          </a:solidFill>
          <a:ln w="12700">
            <a:solidFill>
              <a:srgbClr val="8B5E3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23444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383280" y="17373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E3C"/>
                </a:solidFill>
              </a:rPr>
              <a:t>La realidad geográfica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3383280" y="2176272"/>
            <a:ext cx="2514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F1E"/>
                </a:solidFill>
              </a:rPr>
              <a:t>Cultivos tradicionales (maíz, frijol, sorgo) retroceden en el norte y centro del país.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172200" y="1143000"/>
            <a:ext cx="278892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172200" y="1143000"/>
            <a:ext cx="2788920" cy="457200"/>
          </a:xfrm>
          <a:prstGeom prst="rect">
            <a:avLst/>
          </a:prstGeom>
          <a:solidFill>
            <a:srgbClr val="D46B2E"/>
          </a:solidFill>
          <a:ln w="12700">
            <a:solidFill>
              <a:srgbClr val="D46B2E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123444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09360" y="17373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6B2E"/>
                </a:solidFill>
              </a:rPr>
              <a:t>El problema oculto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309360" y="2176272"/>
            <a:ext cx="2514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F1E"/>
                </a:solidFill>
              </a:rPr>
              <a:t>Cultivos de exportación (aguacate, agave, palma) avanzan hacia el trópico, donde está el bosque.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2990088" y="2651760"/>
            <a:ext cx="256032" cy="91440"/>
          </a:xfrm>
          <a:prstGeom prst="rect">
            <a:avLst/>
          </a:prstGeom>
          <a:solidFill>
            <a:srgbClr val="6B7A6B"/>
          </a:solidFill>
          <a:ln w="12700">
            <a:solidFill>
              <a:srgbClr val="6B7A6B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916168" y="2651760"/>
            <a:ext cx="256032" cy="91440"/>
          </a:xfrm>
          <a:prstGeom prst="rect">
            <a:avLst/>
          </a:prstGeom>
          <a:solidFill>
            <a:srgbClr val="D46B2E"/>
          </a:solidFill>
          <a:ln w="12700">
            <a:solidFill>
              <a:srgbClr val="D46B2E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E8DFC8"/>
          </a:solidFill>
          <a:ln w="12700">
            <a:solidFill>
              <a:srgbClr val="E8DFC8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8046720" y="4928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6B"/>
                </a:solidFill>
              </a:rPr>
              <a:t>3 / 10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365760" y="4928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6B"/>
                </a:solidFill>
              </a:rPr>
              <a:t>La Frontera que Avanza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A7C59"/>
                </a:solidFill>
              </a:rPr>
              <a:t>PROBLEMÁTICA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F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¿Por qué importa este análisis?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41148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43000"/>
            <a:ext cx="64008" cy="338328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6187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</a:rPr>
              <a:t>Los tomadores de decisiones ven esto: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719072"/>
            <a:ext cx="37490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F1E"/>
                </a:solidFill>
              </a:rPr>
              <a:t>Superficie agrícola: </a:t>
            </a:r>
            <a:pPr indent="0" marL="0">
              <a:buNone/>
            </a:pPr>
            <a:r>
              <a:rPr lang="en-US" sz="1300" dirty="0">
                <a:solidFill>
                  <a:srgbClr val="1A2F1E"/>
                </a:solidFill>
              </a:rPr>
              <a:t>−3.1M ha
</a:t>
            </a:r>
            <a:pPr indent="0" marL="0">
              <a:buNone/>
            </a:pPr>
            <a:r>
              <a:rPr lang="en-US" sz="1300" b="1" dirty="0">
                <a:solidFill>
                  <a:srgbClr val="1A2F1E"/>
                </a:solidFill>
              </a:rPr>
              <a:t>Lectura: </a:t>
            </a:r>
            <a:pPr indent="0" marL="0">
              <a:buNone/>
            </a:pPr>
            <a:r>
              <a:rPr lang="en-US" sz="1300" i="1" dirty="0">
                <a:solidFill>
                  <a:srgbClr val="1A2F1E"/>
                </a:solidFill>
              </a:rPr>
              <a:t>"La presión agrícola está bajando"
</a:t>
            </a:r>
            <a:pPr indent="0" marL="0">
              <a:buNone/>
            </a:pPr>
            <a:r>
              <a:rPr lang="en-US" sz="1300" b="1" dirty="0">
                <a:solidFill>
                  <a:srgbClr val="1A2F1E"/>
                </a:solidFill>
              </a:rPr>
              <a:t>Instituciones: </a:t>
            </a:r>
            <a:pPr indent="0" marL="0">
              <a:buNone/>
            </a:pPr>
            <a:r>
              <a:rPr lang="en-US" sz="1300" dirty="0">
                <a:solidFill>
                  <a:srgbClr val="1A2F1E"/>
                </a:solidFill>
              </a:rPr>
              <a:t>SEMARNAT · CONAFOR · Gobiernos estatales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09160" y="1143000"/>
            <a:ext cx="41148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143000"/>
            <a:ext cx="64008" cy="3383280"/>
          </a:xfrm>
          <a:prstGeom prst="rect">
            <a:avLst/>
          </a:prstGeom>
          <a:solidFill>
            <a:srgbClr val="D46B2E"/>
          </a:solidFill>
          <a:ln w="12700">
            <a:solidFill>
              <a:srgbClr val="D46B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92040" y="126187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6B2E"/>
                </a:solidFill>
              </a:rPr>
              <a:t>Lo que el dato agegado no muestra: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92040" y="1719072"/>
            <a:ext cx="37490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F1E"/>
                </a:solidFill>
              </a:rPr>
              <a:t>Hay una sustitución espacial activa
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F1E"/>
                </a:solidFill>
              </a:rPr>
              <a:t>Una frontera agrícola que avanza
hacia el trópico
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F1E"/>
                </a:solidFill>
              </a:rPr>
              <a:t>Cultivos de exportación de alta
rentabilidad como motor
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F1E"/>
                </a:solidFill>
              </a:rPr>
              <a:t>Pérdida forestal concentrada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F1E"/>
                </a:solidFill>
              </a:rPr>
              <a:t>en el sureste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E8DFC8"/>
          </a:solidFill>
          <a:ln w="12700">
            <a:solidFill>
              <a:srgbClr val="E8DF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0" y="4928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6B"/>
                </a:solidFill>
              </a:rPr>
              <a:t>4 / 10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4928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6B"/>
                </a:solidFill>
              </a:rPr>
              <a:t>La Frontera que Avanza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7BC62"/>
                </a:solidFill>
              </a:rPr>
              <a:t>FUENTES DE DATOS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Dos fuentes independientes, una historia cruzada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4114800" cy="3474720"/>
          </a:xfrm>
          <a:prstGeom prst="rect">
            <a:avLst/>
          </a:prstGeom>
          <a:solidFill>
            <a:srgbClr val="1A3A1C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43000"/>
            <a:ext cx="64008" cy="347472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126187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7BC62"/>
                </a:solidFill>
              </a:rPr>
              <a:t>Global Forest Watch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02920" y="16642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6B"/>
                </a:solidFill>
              </a:rPr>
              <a:t>globalforestwatch.org · Hansen / UMD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02920" y="2011680"/>
            <a:ext cx="3749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DFC8"/>
                </a:solidFill>
              </a:rPr>
              <a:t>Cobertura:</a:t>
            </a:r>
            <a:pPr indent="0" marL="0">
              <a:buNone/>
            </a:pPr>
            <a:r>
              <a:rPr lang="en-US" sz="1200" dirty="0">
                <a:solidFill>
                  <a:srgbClr val="E8DFC8"/>
                </a:solidFill>
              </a:rPr>
              <a:t> 2001–2023, anual
</a:t>
            </a:r>
            <a:pPr indent="0" marL="0">
              <a:buNone/>
            </a:pPr>
            <a:r>
              <a:rPr lang="en-US" sz="1200" b="1" dirty="0">
                <a:solidFill>
                  <a:srgbClr val="E8DFC8"/>
                </a:solidFill>
              </a:rPr>
              <a:t>Granularidad:</a:t>
            </a:r>
            <a:pPr indent="0" marL="0">
              <a:buNone/>
            </a:pPr>
            <a:r>
              <a:rPr lang="en-US" sz="1200" dirty="0">
                <a:solidFill>
                  <a:srgbClr val="E8DFC8"/>
                </a:solidFill>
              </a:rPr>
              <a:t> Nacional, estatal, municipal
</a:t>
            </a:r>
            <a:pPr indent="0" marL="0">
              <a:buNone/>
            </a:pPr>
            <a:r>
              <a:rPr lang="en-US" sz="1200" b="1" dirty="0">
                <a:solidFill>
                  <a:srgbClr val="E8DFC8"/>
                </a:solidFill>
              </a:rPr>
              <a:t>Umbral:</a:t>
            </a:r>
            <a:pPr indent="0" marL="0">
              <a:buNone/>
            </a:pPr>
            <a:r>
              <a:rPr lang="en-US" sz="1200" dirty="0">
                <a:solidFill>
                  <a:srgbClr val="E8DFC8"/>
                </a:solidFill>
              </a:rPr>
              <a:t> 30% (estándar bosques tropicales)
</a:t>
            </a:r>
            <a:pPr indent="0" marL="0">
              <a:buNone/>
            </a:pPr>
            <a:r>
              <a:rPr lang="en-US" sz="1200" b="1" dirty="0">
                <a:solidFill>
                  <a:srgbClr val="E8DFC8"/>
                </a:solidFill>
              </a:rPr>
              <a:t>Variables clave:</a:t>
            </a:r>
            <a:pPr indent="0" marL="0">
              <a:buNone/>
            </a:pPr>
            <a:r>
              <a:rPr lang="en-US" sz="1200" dirty="0">
                <a:solidFill>
                  <a:srgbClr val="E8DFC8"/>
                </a:solidFill>
              </a:rPr>
              <a:t> extent_2000_ha, tc_loss_ha_YYYY
</a:t>
            </a:r>
            <a:pPr indent="0" marL="0">
              <a:buNone/>
            </a:pPr>
            <a:r>
              <a:rPr lang="en-US" sz="1200" b="1" dirty="0">
                <a:solidFill>
                  <a:srgbClr val="E8DFC8"/>
                </a:solidFill>
              </a:rPr>
              <a:t>Estados:</a:t>
            </a:r>
            <a:pPr indent="0" marL="0">
              <a:buNone/>
            </a:pPr>
            <a:r>
              <a:rPr lang="en-US" sz="1200" dirty="0">
                <a:solidFill>
                  <a:srgbClr val="E8DFC8"/>
                </a:solidFill>
              </a:rPr>
              <a:t> 32 · Resolución: 30 m (Landsat)
</a:t>
            </a:r>
            <a:pPr indent="0" marL="0">
              <a:buNone/>
            </a:pPr>
            <a:r>
              <a:rPr lang="en-US" sz="1200" b="1" dirty="0">
                <a:solidFill>
                  <a:srgbClr val="E8DFC8"/>
                </a:solidFill>
              </a:rPr>
              <a:t>Calidad:</a:t>
            </a:r>
            <a:pPr indent="0" marL="0">
              <a:buNone/>
            </a:pPr>
            <a:r>
              <a:rPr lang="en-US" sz="1200" dirty="0">
                <a:solidFill>
                  <a:srgbClr val="E8DFC8"/>
                </a:solidFill>
              </a:rPr>
              <a:t> Alta · Sin valores faltantes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09160" y="1143000"/>
            <a:ext cx="4114800" cy="3474720"/>
          </a:xfrm>
          <a:prstGeom prst="rect">
            <a:avLst/>
          </a:prstGeom>
          <a:solidFill>
            <a:srgbClr val="2F1A0A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9160" y="1143000"/>
            <a:ext cx="64008" cy="3474720"/>
          </a:xfrm>
          <a:prstGeom prst="rect">
            <a:avLst/>
          </a:prstGeom>
          <a:solidFill>
            <a:srgbClr val="D46B2E"/>
          </a:solidFill>
          <a:ln w="12700">
            <a:solidFill>
              <a:srgbClr val="D46B2E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23444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49240" y="126187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6B2E"/>
                </a:solidFill>
              </a:rPr>
              <a:t>SIAP – SADER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4892040" y="16642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6B"/>
                </a:solidFill>
              </a:rPr>
              <a:t>siap.gob.mx · Gobierno de México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4892040" y="2011680"/>
            <a:ext cx="3749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DFC8"/>
                </a:solidFill>
              </a:rPr>
              <a:t>Cobertura:</a:t>
            </a:r>
            <a:pPr indent="0" marL="0">
              <a:buNone/>
            </a:pPr>
            <a:r>
              <a:rPr lang="en-US" sz="1200" dirty="0">
                <a:solidFill>
                  <a:srgbClr val="E8DFC8"/>
                </a:solidFill>
              </a:rPr>
              <a:t> 2001–2023, anual
</a:t>
            </a:r>
            <a:pPr indent="0" marL="0">
              <a:buNone/>
            </a:pPr>
            <a:r>
              <a:rPr lang="en-US" sz="1200" b="1" dirty="0">
                <a:solidFill>
                  <a:srgbClr val="E8DFC8"/>
                </a:solidFill>
              </a:rPr>
              <a:t>Archivos:</a:t>
            </a:r>
            <a:pPr indent="0" marL="0">
              <a:buNone/>
            </a:pPr>
            <a:r>
              <a:rPr lang="en-US" sz="1200" dirty="0">
                <a:solidFill>
                  <a:srgbClr val="E8DFC8"/>
                </a:solidFill>
              </a:rPr>
              <a:t> YYYY_cultivo.xls + YYYY_estados.xls
</a:t>
            </a:r>
            <a:pPr indent="0" marL="0">
              <a:buNone/>
            </a:pPr>
            <a:r>
              <a:rPr lang="en-US" sz="1200" b="1" dirty="0">
                <a:solidFill>
                  <a:srgbClr val="E8DFC8"/>
                </a:solidFill>
              </a:rPr>
              <a:t>Cultivos:</a:t>
            </a:r>
            <a:pPr indent="0" marL="0">
              <a:buNone/>
            </a:pPr>
            <a:r>
              <a:rPr lang="en-US" sz="1200" dirty="0">
                <a:solidFill>
                  <a:srgbClr val="E8DFC8"/>
                </a:solidFill>
              </a:rPr>
              <a:t> ~260 tipos distintos por año
</a:t>
            </a:r>
            <a:pPr indent="0" marL="0">
              <a:buNone/>
            </a:pPr>
            <a:r>
              <a:rPr lang="en-US" sz="1200" b="1" dirty="0">
                <a:solidFill>
                  <a:srgbClr val="E8DFC8"/>
                </a:solidFill>
              </a:rPr>
              <a:t>Variables clave:</a:t>
            </a:r>
            <a:pPr indent="0" marL="0">
              <a:buNone/>
            </a:pPr>
            <a:r>
              <a:rPr lang="en-US" sz="1200" dirty="0">
                <a:solidFill>
                  <a:srgbClr val="E8DFC8"/>
                </a:solidFill>
              </a:rPr>
              <a:t> Sembrada (ha), Cosechada (ha)
</a:t>
            </a:r>
            <a:pPr indent="0" marL="0">
              <a:buNone/>
            </a:pPr>
            <a:r>
              <a:rPr lang="en-US" sz="1200" b="1" dirty="0">
                <a:solidFill>
                  <a:srgbClr val="E8DFC8"/>
                </a:solidFill>
              </a:rPr>
              <a:t>Estados:</a:t>
            </a:r>
            <a:pPr indent="0" marL="0">
              <a:buNone/>
            </a:pPr>
            <a:r>
              <a:rPr lang="en-US" sz="1200" dirty="0">
                <a:solidFill>
                  <a:srgbClr val="E8DFC8"/>
                </a:solidFill>
              </a:rPr>
              <a:t> 32 · Formato: HTML/XLS
</a:t>
            </a:r>
            <a:pPr indent="0" marL="0">
              <a:buNone/>
            </a:pPr>
            <a:r>
              <a:rPr lang="en-US" sz="1200" b="1" dirty="0">
                <a:solidFill>
                  <a:srgbClr val="E8DFC8"/>
                </a:solidFill>
              </a:rPr>
              <a:t>Calidad:</a:t>
            </a:r>
            <a:pPr indent="0" marL="0">
              <a:buNone/>
            </a:pPr>
            <a:r>
              <a:rPr lang="en-US" sz="1200" dirty="0">
                <a:solidFill>
                  <a:srgbClr val="E8DFC8"/>
                </a:solidFill>
              </a:rPr>
              <a:t> Alta · Requiere normalización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162618"/>
          </a:solidFill>
          <a:ln w="12700">
            <a:solidFill>
              <a:srgbClr val="162618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046720" y="4928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7C59"/>
                </a:solidFill>
              </a:rPr>
              <a:t>5 / 10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365760" y="4928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7C59"/>
                </a:solidFill>
              </a:rPr>
              <a:t>La Frontera que Avanza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A7C59"/>
                </a:solidFill>
              </a:rPr>
              <a:t>DATOS: PÉRDIDA FORESTAL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2F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GFW confirma: la pérdida es masiva y geográficamente concentrada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1965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005840"/>
            <a:ext cx="1965960" cy="109728"/>
          </a:xfrm>
          <a:prstGeom prst="rect">
            <a:avLst/>
          </a:prstGeom>
          <a:solidFill>
            <a:srgbClr val="D46B2E"/>
          </a:solidFill>
          <a:ln w="12700">
            <a:solidFill>
              <a:srgbClr val="D46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143000"/>
            <a:ext cx="1783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6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4.9M ha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11480" y="166420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6B"/>
                </a:solidFill>
              </a:rPr>
              <a:t>pérdida acumulada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A6B"/>
                </a:solidFill>
              </a:rPr>
              <a:t>2001–2023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68880" y="1005840"/>
            <a:ext cx="1965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468880" y="1005840"/>
            <a:ext cx="1965960" cy="109728"/>
          </a:xfrm>
          <a:prstGeom prst="rect">
            <a:avLst/>
          </a:prstGeom>
          <a:solidFill>
            <a:srgbClr val="8B5E3C"/>
          </a:solidFill>
          <a:ln w="12700">
            <a:solidFill>
              <a:srgbClr val="8B5E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0" y="1143000"/>
            <a:ext cx="1783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B5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212k ha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560320" y="166420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6B"/>
                </a:solidFill>
              </a:rPr>
              <a:t>promedio anual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A6B"/>
                </a:solidFill>
              </a:rPr>
              <a:t>perdidas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17720" y="1005840"/>
            <a:ext cx="1965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17720" y="1005840"/>
            <a:ext cx="1965960" cy="109728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9160" y="1143000"/>
            <a:ext cx="1783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2019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709160" y="166420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6B"/>
                </a:solidFill>
              </a:rPr>
              <a:t>año con mayor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A6B"/>
                </a:solidFill>
              </a:rPr>
              <a:t>pérdida (379k ha)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766560" y="1005840"/>
            <a:ext cx="1965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766560" y="1005840"/>
            <a:ext cx="1965960" cy="109728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0" y="1143000"/>
            <a:ext cx="1783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7C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Campeche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858000" y="166420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6B"/>
                </a:solidFill>
              </a:rPr>
              <a:t>estado más afectado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A6B"/>
                </a:solidFill>
              </a:rPr>
              <a:t>(907k ha perdidas)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0040" y="239572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A6B"/>
                </a:solidFill>
              </a:rPr>
              <a:t>Top 8 estados · Pérdida forestal acumulada (miles de ha, 2001–2023)</a:t>
            </a:r>
            <a:endParaRPr lang="en-US" sz="11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320040" y="2651760"/>
          <a:ext cx="850392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Shape 19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E8DFC8"/>
          </a:solidFill>
          <a:ln w="12700">
            <a:solidFill>
              <a:srgbClr val="E8DFC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046720" y="4928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6B"/>
                </a:solidFill>
              </a:rPr>
              <a:t>6 / 10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" y="4928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6B"/>
                </a:solidFill>
              </a:rPr>
              <a:t>La Frontera que Avanza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A7C59"/>
                </a:solidFill>
              </a:rPr>
              <a:t>DATOS: TRANSFORMACIÓN AGRÍCOLA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2F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SIAP: el campo no se redujo, se transformó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1078992"/>
            <a:ext cx="4160520" cy="3520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078992"/>
            <a:ext cx="64008" cy="3520440"/>
          </a:xfrm>
          <a:prstGeom prst="rect">
            <a:avLst/>
          </a:prstGeom>
          <a:solidFill>
            <a:srgbClr val="D46B2E"/>
          </a:solidFill>
          <a:ln w="12700">
            <a:solidFill>
              <a:srgbClr val="D46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7043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6B2E"/>
                </a:solidFill>
              </a:rPr>
              <a:t>Cultivos que MÁS CRECIERON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84048" y="1581912"/>
            <a:ext cx="3977640" cy="457200"/>
          </a:xfrm>
          <a:prstGeom prst="rect">
            <a:avLst/>
          </a:prstGeom>
          <a:solidFill>
            <a:srgbClr val="FEF3E8"/>
          </a:solidFill>
          <a:ln w="12700">
            <a:solidFill>
              <a:srgbClr val="D1D9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65506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Pastos y praderas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377440" y="165506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6B2E"/>
                </a:solidFill>
              </a:rPr>
              <a:t>+873k ha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520440" y="165506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6B2E"/>
                </a:solidFill>
              </a:rPr>
              <a:t>+49%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84048" y="2112264"/>
            <a:ext cx="3977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18541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Maíz forrajero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377440" y="218541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6B2E"/>
                </a:solidFill>
              </a:rPr>
              <a:t>+264k ha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520440" y="218541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6B2E"/>
                </a:solidFill>
              </a:rPr>
              <a:t>+93%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84048" y="2642616"/>
            <a:ext cx="3977640" cy="457200"/>
          </a:xfrm>
          <a:prstGeom prst="rect">
            <a:avLst/>
          </a:prstGeom>
          <a:solidFill>
            <a:srgbClr val="FEF3E8"/>
          </a:solidFill>
          <a:ln w="12700">
            <a:solidFill>
              <a:srgbClr val="D1D9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7157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Aguacate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377440" y="271576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6B2E"/>
                </a:solidFill>
              </a:rPr>
              <a:t>+170k ha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520440" y="271576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6B2E"/>
                </a:solidFill>
              </a:rPr>
              <a:t>+180%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84048" y="3172968"/>
            <a:ext cx="3977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32461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Agave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377440" y="32461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6B2E"/>
                </a:solidFill>
              </a:rPr>
              <a:t>+149k ha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520440" y="32461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6B2E"/>
                </a:solidFill>
              </a:rPr>
              <a:t>+166%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84048" y="3703320"/>
            <a:ext cx="3977640" cy="457200"/>
          </a:xfrm>
          <a:prstGeom prst="rect">
            <a:avLst/>
          </a:prstGeom>
          <a:solidFill>
            <a:srgbClr val="FEF3E8"/>
          </a:solidFill>
          <a:ln w="12700">
            <a:solidFill>
              <a:srgbClr val="D1D9D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37764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Palma africana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377440" y="37764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6B2E"/>
                </a:solidFill>
              </a:rPr>
              <a:t>+93k ha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520440" y="37764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6B2E"/>
                </a:solidFill>
              </a:rPr>
              <a:t>+495%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663440" y="1078992"/>
            <a:ext cx="4160520" cy="3520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663440" y="1078992"/>
            <a:ext cx="64008" cy="352044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46320" y="117043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</a:rPr>
              <a:t>Cultivos que MÁS CAYERON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727448" y="1581912"/>
            <a:ext cx="3977640" cy="457200"/>
          </a:xfrm>
          <a:prstGeom prst="rect">
            <a:avLst/>
          </a:prstGeom>
          <a:solidFill>
            <a:srgbClr val="EDF4EC"/>
          </a:solidFill>
          <a:ln w="12700">
            <a:solidFill>
              <a:srgbClr val="D1D9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0" y="165506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Maíz grano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720840" y="165506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</a:rPr>
              <a:t>−1,456k ha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863840" y="165506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</a:rPr>
              <a:t>−17%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727448" y="2112264"/>
            <a:ext cx="3977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D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46320" y="218541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Frijol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720840" y="218541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</a:rPr>
              <a:t>−861k ha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863840" y="218541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</a:rPr>
              <a:t>−44%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727448" y="2642616"/>
            <a:ext cx="3977640" cy="457200"/>
          </a:xfrm>
          <a:prstGeom prst="rect">
            <a:avLst/>
          </a:prstGeom>
          <a:solidFill>
            <a:srgbClr val="EDF4EC"/>
          </a:solidFill>
          <a:ln w="12700">
            <a:solidFill>
              <a:srgbClr val="D1D9D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46320" y="27157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Sorgo grano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6720840" y="271576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</a:rPr>
              <a:t>−853k ha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863840" y="271576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</a:rPr>
              <a:t>−39%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727448" y="3172968"/>
            <a:ext cx="3977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D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46320" y="32461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Trigo grano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6720840" y="32461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</a:rPr>
              <a:t>−131k ha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863840" y="32461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</a:rPr>
              <a:t>−19%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727448" y="3703320"/>
            <a:ext cx="3977640" cy="457200"/>
          </a:xfrm>
          <a:prstGeom prst="rect">
            <a:avLst/>
          </a:prstGeom>
          <a:solidFill>
            <a:srgbClr val="EDF4EC"/>
          </a:solidFill>
          <a:ln w="12700">
            <a:solidFill>
              <a:srgbClr val="D1D9D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46320" y="37764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Cártamo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6720840" y="37764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</a:rPr>
              <a:t>−101k ha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7863840" y="37764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</a:rPr>
              <a:t>−74%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E8DFC8"/>
          </a:solidFill>
          <a:ln w="12700">
            <a:solidFill>
              <a:srgbClr val="E8DFC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046720" y="4928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6B"/>
                </a:solidFill>
              </a:rPr>
              <a:t>7 / 10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365760" y="4928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6B"/>
                </a:solidFill>
              </a:rPr>
              <a:t>La Frontera que Avanza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7BC62"/>
                </a:solidFill>
              </a:rPr>
              <a:t>HIPÓTESIS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 que creemos que los datos van a demostrar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1051560"/>
            <a:ext cx="8503920" cy="1828800"/>
          </a:xfrm>
          <a:prstGeom prst="rect">
            <a:avLst/>
          </a:prstGeom>
          <a:solidFill>
            <a:srgbClr val="1E3A21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051560"/>
            <a:ext cx="64008" cy="18288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11556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7BC62"/>
                </a:solidFill>
              </a:rPr>
              <a:t>Hipótesis principal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8046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reducción del área agrícola total enmascara un proceso de sustitución espacial: mientras los cultivos tradicionales retroceden en el norte, cultivos de exportación (aguacate, agave, palma) se expanden hacia estados tropicales, coincidiendo geográficamente con las mayores pérdidas forestales del país.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0040" y="3017520"/>
            <a:ext cx="2697480" cy="1691640"/>
          </a:xfrm>
          <a:prstGeom prst="rect">
            <a:avLst/>
          </a:prstGeom>
          <a:solidFill>
            <a:srgbClr val="1E3220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309067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57200" y="3547872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DFC8"/>
                </a:solidFill>
              </a:rPr>
              <a:t>Estados con más crecimiento de cultivos de exportación presentan mayor pérdida forestal acumulada.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3017520"/>
            <a:ext cx="2697480" cy="1691640"/>
          </a:xfrm>
          <a:prstGeom prst="rect">
            <a:avLst/>
          </a:prstGeom>
          <a:solidFill>
            <a:srgbClr val="1E3220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37560" y="309067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6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337560" y="3547872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DFC8"/>
                </a:solidFill>
              </a:rPr>
              <a:t>La ganadería extensiva es el principal motor de deforestación en el sureste (Campeche, Chiapas, Tabasco).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80760" y="3017520"/>
            <a:ext cx="2697480" cy="1691640"/>
          </a:xfrm>
          <a:prstGeom prst="rect">
            <a:avLst/>
          </a:prstGeom>
          <a:solidFill>
            <a:srgbClr val="1E3220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309067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DFC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17920" y="3547872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DFC8"/>
                </a:solidFill>
              </a:rPr>
              <a:t>Existe un punto de inflexión temporal correlacionable con el boom de algún cultivo específico.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162618"/>
          </a:solidFill>
          <a:ln w="12700">
            <a:solidFill>
              <a:srgbClr val="16261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0" y="4928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7C59"/>
                </a:solidFill>
              </a:rPr>
              <a:t>8 / 10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4928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7C59"/>
                </a:solidFill>
              </a:rPr>
              <a:t>La Frontera que Avanza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A7C59"/>
                </a:solidFill>
              </a:rPr>
              <a:t>HALLAZGO EXPLORATORIO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2F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Donde crece el campo, desaparece el bosque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1051560"/>
            <a:ext cx="8503920" cy="347472"/>
          </a:xfrm>
          <a:prstGeom prst="rect">
            <a:avLst/>
          </a:prstGeom>
          <a:solidFill>
            <a:srgbClr val="1A2F1E"/>
          </a:solidFill>
          <a:ln w="12700">
            <a:solidFill>
              <a:srgbClr val="1A2F1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93192" y="107899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7BC62"/>
                </a:solidFill>
              </a:rPr>
              <a:t>Estado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673352" y="10789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7BC62"/>
                </a:solidFill>
              </a:rPr>
              <a:t>Cambio agrícola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502152" y="10789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7BC62"/>
                </a:solidFill>
              </a:rPr>
              <a:t>Bosque perdido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330952" y="107899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7BC62"/>
                </a:solidFill>
              </a:rPr>
              <a:t>Observación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1399032"/>
            <a:ext cx="8503920" cy="420624"/>
          </a:xfrm>
          <a:prstGeom prst="rect">
            <a:avLst/>
          </a:prstGeom>
          <a:solidFill>
            <a:srgbClr val="EDF4EC"/>
          </a:solidFill>
          <a:ln w="12700">
            <a:solidFill>
              <a:srgbClr val="D1D9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3192" y="14630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Campeche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673352" y="14630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6B2E"/>
                </a:solidFill>
              </a:rPr>
              <a:t>+136k ha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502152" y="14630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</a:rPr>
              <a:t>907k ha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330952" y="14630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Mayor pérdida forestal del país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0040" y="1856232"/>
            <a:ext cx="850392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D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3192" y="1920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Oaxaca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673352" y="19202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6B2E"/>
                </a:solidFill>
              </a:rPr>
              <a:t>+177k ha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502152" y="19202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</a:rPr>
              <a:t>432k ha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330952" y="19202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Expansión agrícola y forestal coinciden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20040" y="2313432"/>
            <a:ext cx="8503920" cy="420624"/>
          </a:xfrm>
          <a:prstGeom prst="rect">
            <a:avLst/>
          </a:prstGeom>
          <a:solidFill>
            <a:srgbClr val="EDF4EC"/>
          </a:solidFill>
          <a:ln w="12700">
            <a:solidFill>
              <a:srgbClr val="D1D9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3192" y="23774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Jalisco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673352" y="23774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6B2E"/>
                </a:solidFill>
              </a:rPr>
              <a:t>+228k ha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502152" y="23774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</a:rPr>
              <a:t>69k ha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330952" y="23774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Expansión agave (tequila)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20040" y="2770632"/>
            <a:ext cx="850392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D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93192" y="28346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Michoacán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673352" y="2834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6B2E"/>
                </a:solidFill>
              </a:rPr>
              <a:t>+120k ha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502152" y="2834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</a:rPr>
              <a:t>104k ha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330952" y="28346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Expansión aguacate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320040" y="3227832"/>
            <a:ext cx="8503920" cy="420624"/>
          </a:xfrm>
          <a:prstGeom prst="rect">
            <a:avLst/>
          </a:prstGeom>
          <a:solidFill>
            <a:srgbClr val="EDF4EC"/>
          </a:solidFill>
          <a:ln w="12700">
            <a:solidFill>
              <a:srgbClr val="D1D9D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93192" y="32918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Quintana Roo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673352" y="32918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6B2E"/>
                </a:solidFill>
              </a:rPr>
              <a:t>+16k ha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3502152" y="32918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</a:rPr>
              <a:t>600k ha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330952" y="32918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Alta pérdida, posiblemente turismo también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320040" y="3685032"/>
            <a:ext cx="8503920" cy="420624"/>
          </a:xfrm>
          <a:prstGeom prst="rect">
            <a:avLst/>
          </a:prstGeom>
          <a:solidFill>
            <a:srgbClr val="FEF3E8"/>
          </a:solidFill>
          <a:ln w="12700">
            <a:solidFill>
              <a:srgbClr val="D1D9D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93192" y="37490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Chiapas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1673352" y="37490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</a:rPr>
              <a:t>−126k ha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3502152" y="37490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</a:rPr>
              <a:t>783k ha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5330952" y="37490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Caída agrícola pero alta pérdida forestal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320040" y="4160520"/>
            <a:ext cx="8503920" cy="502920"/>
          </a:xfrm>
          <a:prstGeom prst="rect">
            <a:avLst/>
          </a:prstGeom>
          <a:solidFill>
            <a:srgbClr val="FEF3E8"/>
          </a:solidFill>
          <a:ln w="12700">
            <a:solidFill>
              <a:srgbClr val="D46B2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42245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5E3C"/>
                </a:solidFill>
              </a:rPr>
              <a:t>Caso Chiapas: aunque el área agrícola disminuyó, es el 2° estado con mayor pérdida forestal. Posible driver: ganadería extensiva (no siempre capturada en datos de cultivo).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E8DFC8"/>
          </a:solidFill>
          <a:ln w="12700">
            <a:solidFill>
              <a:srgbClr val="E8DFC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046720" y="4928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6B"/>
                </a:solidFill>
              </a:rPr>
              <a:t>9 / 10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65760" y="4928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6B"/>
                </a:solidFill>
              </a:rPr>
              <a:t>La Frontera que Avanza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7BC62"/>
                </a:solidFill>
              </a:rPr>
              <a:t>PRÓXIMOS PASOS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 EDA a la historia visual completa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47472" y="1170432"/>
            <a:ext cx="3886200" cy="1051560"/>
          </a:xfrm>
          <a:prstGeom prst="rect">
            <a:avLst/>
          </a:prstGeom>
          <a:solidFill>
            <a:srgbClr val="1E3220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84632" y="124358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60704" y="126187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Dataset completo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60704" y="158191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DFC8"/>
                </a:solidFill>
              </a:rPr>
              <a:t>Recolectar datos SIAP anuales 2001–2023 y construir el dataset maestro unificado.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7472" y="2359152"/>
            <a:ext cx="3886200" cy="1051560"/>
          </a:xfrm>
          <a:prstGeom prst="rect">
            <a:avLst/>
          </a:prstGeom>
          <a:solidFill>
            <a:srgbClr val="1E3220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4632" y="24323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060704" y="245059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Correlaciones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60704" y="277063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DFC8"/>
                </a:solidFill>
              </a:rPr>
              <a:t>Pearson y Spearman entre pérdida forestal y cultivos específicos por estado y año.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47472" y="3547872"/>
            <a:ext cx="3886200" cy="1051560"/>
          </a:xfrm>
          <a:prstGeom prst="rect">
            <a:avLst/>
          </a:prstGeom>
          <a:solidFill>
            <a:srgbClr val="1E3220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4632" y="362102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060704" y="363931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Inflexiones temporales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60704" y="395935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DFC8"/>
                </a:solidFill>
              </a:rPr>
              <a:t>Detectar años de cambio abrupto con métodos como Pettitt o CUSUM.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0" y="1170432"/>
            <a:ext cx="3886200" cy="1051560"/>
          </a:xfrm>
          <a:prstGeom prst="rect">
            <a:avLst/>
          </a:prstGeom>
          <a:solidFill>
            <a:srgbClr val="1E3220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09160" y="124358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5285232" y="126187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Clustering de estados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285232" y="158191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DFC8"/>
                </a:solidFill>
              </a:rPr>
              <a:t>K-Means para agrupar estados por perfil: deforestación + composición agrícola.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0" y="2359152"/>
            <a:ext cx="3886200" cy="1051560"/>
          </a:xfrm>
          <a:prstGeom prst="rect">
            <a:avLst/>
          </a:prstGeom>
          <a:solidFill>
            <a:srgbClr val="1E3220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09160" y="24323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5285232" y="245059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Visualizaciones finales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285232" y="277063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DFC8"/>
                </a:solidFill>
              </a:rPr>
              <a:t>Mapa coroplético animado · Scatter de correlación · Serie de tiempo dual · Mapa de clusters.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47472" y="4572000"/>
            <a:ext cx="8458200" cy="36576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E8DFC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historia ya está en los datos. La visualización la va a hacer visible.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162618"/>
          </a:solidFill>
          <a:ln w="12700">
            <a:solidFill>
              <a:srgbClr val="16261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0" y="4928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7C59"/>
                </a:solidFill>
              </a:rPr>
              <a:t>10 / 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65760" y="4928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7C59"/>
                </a:solidFill>
              </a:rPr>
              <a:t>La Frontera que Avanza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 Frontera que Avanza</dc:title>
  <dc:subject>PptxGenJS Presentation</dc:subject>
  <dc:creator>PptxGenJS</dc:creator>
  <cp:lastModifiedBy>PptxGenJS</cp:lastModifiedBy>
  <cp:revision>1</cp:revision>
  <dcterms:created xsi:type="dcterms:W3CDTF">2026-03-06T01:25:57Z</dcterms:created>
  <dcterms:modified xsi:type="dcterms:W3CDTF">2026-03-06T01:25:57Z</dcterms:modified>
</cp:coreProperties>
</file>