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 perdidas (miles)</c:v>
                </c:pt>
              </c:strCache>
            </c:strRef>
          </c:tx>
          <c:spPr>
            <a:solidFill>
              <a:srgbClr val="D46B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F1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46B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46B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7C5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7C5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B7A6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B7A6B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Campeche</c:v>
                  </c:pt>
                  <c:pt idx="1">
                    <c:v>Chiapas</c:v>
                  </c:pt>
                  <c:pt idx="2">
                    <c:v>Quintana Roo</c:v>
                  </c:pt>
                  <c:pt idx="3">
                    <c:v>Yucatán</c:v>
                  </c:pt>
                  <c:pt idx="4">
                    <c:v>Veracruz</c:v>
                  </c:pt>
                  <c:pt idx="5">
                    <c:v>Oaxaca</c:v>
                  </c:pt>
                  <c:pt idx="6">
                    <c:v>Tabasco</c:v>
                  </c:pt>
                  <c:pt idx="7">
                    <c:v>Tamaulipas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907</c:v>
                </c:pt>
                <c:pt idx="1">
                  <c:v>783</c:v>
                </c:pt>
                <c:pt idx="2">
                  <c:v>600</c:v>
                </c:pt>
                <c:pt idx="3">
                  <c:v>522</c:v>
                </c:pt>
                <c:pt idx="4">
                  <c:v>496</c:v>
                </c:pt>
                <c:pt idx="5">
                  <c:v>432</c:v>
                </c:pt>
                <c:pt idx="6">
                  <c:v>164</c:v>
                </c:pt>
                <c:pt idx="7">
                  <c:v>156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F1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F1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5F2E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6583680" y="182880"/>
            <a:ext cx="2286000" cy="2286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7BC62"/>
                </a:solidFill>
              </a:rPr>
              <a:t>VISUALIZACIÓN DE DATOS · FEBRERO 2026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10058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Frontera que Avanza: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02920" y="173736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Transformación Agrícola y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02920" y="228600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Pérdida Forestal en México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02920" y="2880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F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(2001–2023)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02920" y="3520440"/>
            <a:ext cx="5486400" cy="36576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639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6B"/>
                </a:solidFill>
              </a:rPr>
              <a:t>Fuentes: Global Forest Watch (Hansen/UMD) · SIAP – Secretaría de Agricultura, México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62618"/>
          </a:solidFill>
          <a:ln w="12700">
            <a:solidFill>
              <a:srgbClr val="16261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1 / 10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7BC62"/>
                </a:solidFill>
              </a:rPr>
              <a:t>EL PROBLEMA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749040" cy="1463040"/>
          </a:xfrm>
          <a:prstGeom prst="rect">
            <a:avLst/>
          </a:prstGeom>
          <a:solidFill>
            <a:srgbClr val="1E3A21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04672"/>
            <a:ext cx="64008" cy="146304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7782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−3.1M ha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Reducción total de área agrícola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nacional (2001–2023)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06240" y="1417320"/>
            <a:ext cx="731520" cy="9144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33088" y="152704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6B2E"/>
                </a:solidFill>
              </a:rPr>
              <a:t>PERO...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0" y="804672"/>
            <a:ext cx="3749040" cy="1463040"/>
          </a:xfrm>
          <a:prstGeom prst="rect">
            <a:avLst/>
          </a:prstGeom>
          <a:solidFill>
            <a:srgbClr val="3B1A0A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0" y="804672"/>
            <a:ext cx="64008" cy="146304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85953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46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+4.9M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120640" y="15087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</a:rPr>
              <a:t>hectareas de bosque perdidas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180136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DFC8"/>
                </a:solidFill>
              </a:rPr>
              <a:t>en esos mismos 23 años (GFW, threshold 30%)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423160"/>
            <a:ext cx="8412480" cy="1188720"/>
          </a:xfrm>
          <a:prstGeom prst="rect">
            <a:avLst/>
          </a:prstGeom>
          <a:solidFill>
            <a:srgbClr val="253A27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" y="254203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"El campo mexicano no está encogiendo. Está moviéndose.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94360" y="2944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donde se mueve, hay bosque que desaparece."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62618"/>
          </a:solidFill>
          <a:ln w="12700">
            <a:solidFill>
              <a:srgbClr val="1626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2 / 10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</a:rPr>
              <a:t>PROBLEMÁTICA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los datos agregados ocultan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88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2788920" cy="4572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2344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17373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</a:rPr>
              <a:t>Datos nacionales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2176272"/>
            <a:ext cx="2514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F1E"/>
                </a:solidFill>
              </a:rPr>
              <a:t>El área agrícola total disminuyó. A primera vista, pareciera que la presión sobre los bosques se redujo.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46120" y="1143000"/>
            <a:ext cx="2788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46120" y="1143000"/>
            <a:ext cx="2788920" cy="457200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344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83280" y="17373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E3C"/>
                </a:solidFill>
              </a:rPr>
              <a:t>La realidad geográfica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383280" y="2176272"/>
            <a:ext cx="2514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F1E"/>
                </a:solidFill>
              </a:rPr>
              <a:t>Cultivos tradicionales (maíz, frijol, sorgo) retroceden en el norte y centro del país.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72200" y="1143000"/>
            <a:ext cx="2788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72200" y="1143000"/>
            <a:ext cx="2788920" cy="45720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23444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9360" y="17373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6B2E"/>
                </a:solidFill>
              </a:rPr>
              <a:t>El problema oculto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309360" y="2176272"/>
            <a:ext cx="2514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F1E"/>
                </a:solidFill>
              </a:rPr>
              <a:t>Cultivos de exportación (aguacate, agave, palma) avanzan hacia el trópico, donde está el bosque.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2990088" y="2651760"/>
            <a:ext cx="256032" cy="91440"/>
          </a:xfrm>
          <a:prstGeom prst="rect">
            <a:avLst/>
          </a:prstGeom>
          <a:solidFill>
            <a:srgbClr val="6B7A6B"/>
          </a:solidFill>
          <a:ln w="12700">
            <a:solidFill>
              <a:srgbClr val="6B7A6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916168" y="2651760"/>
            <a:ext cx="256032" cy="9144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E8DFC8"/>
          </a:solidFill>
          <a:ln w="12700">
            <a:solidFill>
              <a:srgbClr val="E8DFC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3 / 10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</a:rPr>
              <a:t>PROBLEMÁTICA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¿Por qué importa este análisis?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41148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64008" cy="338328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</a:rPr>
              <a:t>Los tomadores de decisiones ven esto: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719072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E"/>
                </a:solidFill>
              </a:rPr>
              <a:t>Superficie agrícola: </a:t>
            </a:r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−3.1M ha
</a:t>
            </a:r>
            <a:pPr indent="0" marL="0">
              <a:buNone/>
            </a:pPr>
            <a:r>
              <a:rPr lang="en-US" sz="1300" b="1" dirty="0">
                <a:solidFill>
                  <a:srgbClr val="1A2F1E"/>
                </a:solidFill>
              </a:rPr>
              <a:t>Lectura: </a:t>
            </a:r>
            <a:pPr indent="0" marL="0">
              <a:buNone/>
            </a:pPr>
            <a:r>
              <a:rPr lang="en-US" sz="1300" i="1" dirty="0">
                <a:solidFill>
                  <a:srgbClr val="1A2F1E"/>
                </a:solidFill>
              </a:rPr>
              <a:t>"La presión agrícola está bajando"
</a:t>
            </a:r>
            <a:pPr indent="0" marL="0">
              <a:buNone/>
            </a:pPr>
            <a:r>
              <a:rPr lang="en-US" sz="1300" b="1" dirty="0">
                <a:solidFill>
                  <a:srgbClr val="1A2F1E"/>
                </a:solidFill>
              </a:rPr>
              <a:t>Instituciones: </a:t>
            </a:r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SEMARNAT · CONAFOR · Gobiernos estatales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148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43000"/>
            <a:ext cx="64008" cy="338328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6B2E"/>
                </a:solidFill>
              </a:rPr>
              <a:t>Lo que el dato agegado no muestra: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1719072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E"/>
                </a:solidFill>
              </a:rPr>
              <a:t>Hay una sustitución espacial activa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Una frontera agrícola que avanza
hacia el trópico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Cultivos de exportación de alta
rentabilidad como motor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Pérdida forestal concentrada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F1E"/>
                </a:solidFill>
              </a:rPr>
              <a:t>en el sureste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E8DFC8"/>
          </a:solidFill>
          <a:ln w="12700">
            <a:solidFill>
              <a:srgbClr val="E8DF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4 / 10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7BC62"/>
                </a:solidFill>
              </a:rPr>
              <a:t>FUENTES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Dos fuentes independientes, una historia cruzada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4114800" cy="3474720"/>
          </a:xfrm>
          <a:prstGeom prst="rect">
            <a:avLst/>
          </a:prstGeom>
          <a:solidFill>
            <a:srgbClr val="1A3A1C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64008" cy="347472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618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7BC62"/>
                </a:solidFill>
              </a:rPr>
              <a:t>Global Forest Watch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1664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6B"/>
                </a:solidFill>
              </a:rPr>
              <a:t>globalforestwatch.org · Hansen / UMD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201168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Cobertura: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2001–2023, anual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Granularidad: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Nacional, estatal, municipal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Umbral: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30% (estándar bosques tropicales)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Variables clave: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extent_2000_ha, tc_loss_ha_YYYY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Estados: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32 · Resolución: 30 m (Landsat)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Calidad: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Alta · Sin valores faltantes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09160" y="1143000"/>
            <a:ext cx="4114800" cy="3474720"/>
          </a:xfrm>
          <a:prstGeom prst="rect">
            <a:avLst/>
          </a:prstGeom>
          <a:solidFill>
            <a:srgbClr val="2F1A0A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143000"/>
            <a:ext cx="64008" cy="347472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23444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12618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6B2E"/>
                </a:solidFill>
              </a:rPr>
              <a:t>SIAP – SADER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892040" y="1664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6B"/>
                </a:solidFill>
              </a:rPr>
              <a:t>siap.gob.mx · Gobierno de México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892040" y="201168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Cobertura: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2001–2023, anual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Archivos: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YYYY_cultivo.xls + YYYY_estados.xls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Cultivos: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~260 tipos distintos por año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Variables clave: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Sembrada (ha), Cosechada (ha)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Estados: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32 · Formato: HTML/XLS
</a:t>
            </a:r>
            <a:pPr indent="0" marL="0">
              <a:buNone/>
            </a:pPr>
            <a:r>
              <a:rPr lang="en-US" sz="1200" b="1" dirty="0">
                <a:solidFill>
                  <a:srgbClr val="E8DFC8"/>
                </a:solidFill>
              </a:rPr>
              <a:t>Calidad:</a:t>
            </a:r>
            <a:pPr indent="0" marL="0">
              <a:buNone/>
            </a:pPr>
            <a:r>
              <a:rPr lang="en-US" sz="1200" dirty="0">
                <a:solidFill>
                  <a:srgbClr val="E8DFC8"/>
                </a:solidFill>
              </a:rPr>
              <a:t> Alta · Requiere normalización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62618"/>
          </a:solidFill>
          <a:ln w="12700">
            <a:solidFill>
              <a:srgbClr val="16261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5 / 10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</a:rPr>
              <a:t>DATOS: PÉRDIDA FORESTAL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2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GFW confirma: la pérdida es masiva y geográficamente concentrada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1965960" cy="109728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143000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6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4.9M ha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16642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pérdida acumulada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2001–2023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100584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68880" y="1005840"/>
            <a:ext cx="1965960" cy="109728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143000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212k ha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560320" y="16642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promedio anual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perdidas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17720" y="100584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005840"/>
            <a:ext cx="1965960" cy="10972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1143000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2019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09160" y="16642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año con mayor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pérdida (379k ha)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00584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66560" y="1005840"/>
            <a:ext cx="1965960" cy="10972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0" y="1143000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Campeche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0" y="16642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estado más afectado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6B"/>
                </a:solidFill>
              </a:rPr>
              <a:t>(907k ha perdidas)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" y="239572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A6B"/>
                </a:solidFill>
              </a:rPr>
              <a:t>Top 8 estados · Pérdida forestal acumulada (miles de ha, 2001–2023)</a:t>
            </a:r>
            <a:endParaRPr lang="en-US" sz="11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20040" y="2651760"/>
          <a:ext cx="85039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E8DFC8"/>
          </a:solidFill>
          <a:ln w="12700">
            <a:solidFill>
              <a:srgbClr val="E8DFC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6 / 10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</a:rPr>
              <a:t>DATOS: TRANSFORMACIÓN AGRÍCOLA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2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SIAP: el campo no se redujo, se transformó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78992"/>
            <a:ext cx="416052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78992"/>
            <a:ext cx="64008" cy="3520440"/>
          </a:xfrm>
          <a:prstGeom prst="rect">
            <a:avLst/>
          </a:prstGeom>
          <a:solidFill>
            <a:srgbClr val="D46B2E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6B2E"/>
                </a:solidFill>
              </a:rPr>
              <a:t>Cultivos que MÁS CRECIERON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84048" y="1581912"/>
            <a:ext cx="3977640" cy="457200"/>
          </a:xfrm>
          <a:prstGeom prst="rect">
            <a:avLst/>
          </a:prstGeom>
          <a:solidFill>
            <a:srgbClr val="FEF3E8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5506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Pastos y praderas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377440" y="165506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+873k ha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20440" y="165506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+49%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" y="2112264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1854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Maíz forrajero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377440" y="2185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+264k ha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185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+93%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" y="2642616"/>
            <a:ext cx="3977640" cy="457200"/>
          </a:xfrm>
          <a:prstGeom prst="rect">
            <a:avLst/>
          </a:prstGeom>
          <a:solidFill>
            <a:srgbClr val="FEF3E8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715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Aguacate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377440" y="27157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+170k ha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20440" y="27157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+180%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4048" y="317296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Agave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77440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+149k ha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20440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+166%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4048" y="3703320"/>
            <a:ext cx="3977640" cy="457200"/>
          </a:xfrm>
          <a:prstGeom prst="rect">
            <a:avLst/>
          </a:prstGeom>
          <a:solidFill>
            <a:srgbClr val="FEF3E8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764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Palma africana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77440" y="37764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+93k ha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20440" y="37764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6B2E"/>
                </a:solidFill>
              </a:rPr>
              <a:t>+495%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1078992"/>
            <a:ext cx="416052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1078992"/>
            <a:ext cx="64008" cy="35204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</a:rPr>
              <a:t>Cultivos que MÁS CAYERON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27448" y="1581912"/>
            <a:ext cx="3977640" cy="457200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165506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Maíz grano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720840" y="165506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−1,456k ha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863840" y="165506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−17%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727448" y="2112264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21854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Frijol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720840" y="2185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−861k ha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2185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−44%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27448" y="2642616"/>
            <a:ext cx="3977640" cy="457200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0" y="2715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Sorgo grano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720840" y="27157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−853k ha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863840" y="27157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−39%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727448" y="317296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Trigo grano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20840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−131k ha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863840" y="3246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−19%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27448" y="3703320"/>
            <a:ext cx="3977640" cy="457200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37764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Cártamo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20840" y="37764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−101k ha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863840" y="37764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</a:rPr>
              <a:t>−74%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E8DFC8"/>
          </a:solidFill>
          <a:ln w="12700">
            <a:solidFill>
              <a:srgbClr val="E8DFC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7 / 10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7BC62"/>
                </a:solidFill>
              </a:rPr>
              <a:t>HIPÓTESIS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creemos que los datos van a demostrar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8503920" cy="1828800"/>
          </a:xfrm>
          <a:prstGeom prst="rect">
            <a:avLst/>
          </a:prstGeom>
          <a:solidFill>
            <a:srgbClr val="1E3A21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51560"/>
            <a:ext cx="64008" cy="18288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155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</a:rPr>
              <a:t>Hipótesis principal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reducción del área agrícola total enmascara un proceso de sustitución espacial: mientras los cultivos tradicionales retroceden en el norte, cultivos de exportación (aguacate, agave, palma) se expanden hacia estados tropicales, coincidiendo geográficamente con las mayores pérdidas forestales del país.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3017520"/>
            <a:ext cx="2697480" cy="169164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30906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547872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FC8"/>
                </a:solidFill>
              </a:rPr>
              <a:t>Estados con más crecimiento de cultivos de exportación presentan mayor pérdida forestal acumulada.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3017520"/>
            <a:ext cx="2697480" cy="169164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37560" y="30906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6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337560" y="3547872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FC8"/>
                </a:solidFill>
              </a:rPr>
              <a:t>La ganadería extensiva es el principal motor de deforestación en el sureste (Campeche, Chiapas, Tabasco).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0760" y="3017520"/>
            <a:ext cx="2697480" cy="169164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30906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DF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17920" y="3547872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FC8"/>
                </a:solidFill>
              </a:rPr>
              <a:t>Existe un punto de inflexión temporal correlacionable con el boom de algún cultivo específico.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62618"/>
          </a:solidFill>
          <a:ln w="12700">
            <a:solidFill>
              <a:srgbClr val="1626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8 / 10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</a:rPr>
              <a:t>HALLAZGO EXPLORATORIO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2F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Donde crece el campo, desaparece el bosque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8503920" cy="347472"/>
          </a:xfrm>
          <a:prstGeom prst="rect">
            <a:avLst/>
          </a:prstGeom>
          <a:solidFill>
            <a:srgbClr val="1A2F1E"/>
          </a:solidFill>
          <a:ln w="12700">
            <a:solidFill>
              <a:srgbClr val="1A2F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3192" y="10789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BC62"/>
                </a:solidFill>
              </a:rPr>
              <a:t>Estado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673352" y="10789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BC62"/>
                </a:solidFill>
              </a:rPr>
              <a:t>Cambio agrícola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02152" y="10789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BC62"/>
                </a:solidFill>
              </a:rPr>
              <a:t>Bosque perdido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330952" y="10789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BC62"/>
                </a:solidFill>
              </a:rPr>
              <a:t>Observación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399032"/>
            <a:ext cx="8503920" cy="420624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4630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Campeche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673352" y="1463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6B2E"/>
                </a:solidFill>
              </a:rPr>
              <a:t>+136k ha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02152" y="1463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907k ha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330952" y="1463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Mayor pérdida forestal del país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56232"/>
            <a:ext cx="8503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Oaxaca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673352" y="1920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6B2E"/>
                </a:solidFill>
              </a:rPr>
              <a:t>+177k ha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502152" y="1920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432k ha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330952" y="19202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Expansión agrícola y forestal coinciden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0040" y="2313432"/>
            <a:ext cx="8503920" cy="420624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" y="23774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Jalisco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673352" y="23774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6B2E"/>
                </a:solidFill>
              </a:rPr>
              <a:t>+228k ha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502152" y="23774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69k ha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330952" y="2377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Expansión agave (tequila)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2770632"/>
            <a:ext cx="8503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8346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Michoacán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673352" y="2834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6B2E"/>
                </a:solidFill>
              </a:rPr>
              <a:t>+120k ha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02152" y="2834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104k ha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330952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Expansión aguacate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20040" y="3227832"/>
            <a:ext cx="8503920" cy="420624"/>
          </a:xfrm>
          <a:prstGeom prst="rect">
            <a:avLst/>
          </a:prstGeom>
          <a:solidFill>
            <a:srgbClr val="EDF4EC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3291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Quintana Roo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673352" y="32918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6B2E"/>
                </a:solidFill>
              </a:rPr>
              <a:t>+16k ha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502152" y="32918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600k ha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330952" y="32918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Alta pérdida, posiblemente turismo también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3685032"/>
            <a:ext cx="8503920" cy="420624"/>
          </a:xfrm>
          <a:prstGeom prst="rect">
            <a:avLst/>
          </a:prstGeom>
          <a:solidFill>
            <a:srgbClr val="FEF3E8"/>
          </a:solidFill>
          <a:ln w="12700">
            <a:solidFill>
              <a:srgbClr val="D1D9D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3192" y="37490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Chiapas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673352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−126k ha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502152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</a:rPr>
              <a:t>783k ha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330952" y="3749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F1E"/>
                </a:solidFill>
              </a:rPr>
              <a:t>Caída agrícola pero alta pérdida forestal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20040" y="4160520"/>
            <a:ext cx="8503920" cy="502920"/>
          </a:xfrm>
          <a:prstGeom prst="rect">
            <a:avLst/>
          </a:prstGeom>
          <a:solidFill>
            <a:srgbClr val="FEF3E8"/>
          </a:solidFill>
          <a:ln w="12700">
            <a:solidFill>
              <a:srgbClr val="D46B2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5E3C"/>
                </a:solidFill>
              </a:rPr>
              <a:t>Caso Chiapas: aunque el área agrícola disminuyó, es el 2° estado con mayor pérdida forestal. Posible driver: ganadería extensiva (no siempre capturada en datos de cultivo).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E8DFC8"/>
          </a:solidFill>
          <a:ln w="12700">
            <a:solidFill>
              <a:srgbClr val="E8DFC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9 / 10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6B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7BC62"/>
                </a:solidFill>
              </a:rPr>
              <a:t>PRÓXIMOS PASOS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EDA a la historia visual completa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47472" y="1170432"/>
            <a:ext cx="3886200" cy="105156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84632" y="124358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60704" y="12618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Dataset completo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60704" y="158191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FC8"/>
                </a:solidFill>
              </a:rPr>
              <a:t>Recolectar datos SIAP anuales 2001–2023 y construir el dataset maestro unificado.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7472" y="2359152"/>
            <a:ext cx="3886200" cy="105156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" y="24323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60704" y="24505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Correlaciones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60704" y="27706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FC8"/>
                </a:solidFill>
              </a:rPr>
              <a:t>Pearson y Spearman entre pérdida forestal y cultivos específicos por estado y año.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7472" y="3547872"/>
            <a:ext cx="3886200" cy="105156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" y="362102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060704" y="36393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Inflexiones temporales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60704" y="395935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FC8"/>
                </a:solidFill>
              </a:rPr>
              <a:t>Detectar años de cambio abrupto con métodos como Pettitt o CUSUM.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0" y="1170432"/>
            <a:ext cx="3886200" cy="105156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124358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285232" y="12618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Clustering de estados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85232" y="158191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FC8"/>
                </a:solidFill>
              </a:rPr>
              <a:t>K-Means para agrupar estados por perfil: deforestación + composición agrícola.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0" y="2359152"/>
            <a:ext cx="3886200" cy="1051560"/>
          </a:xfrm>
          <a:prstGeom prst="rect">
            <a:avLst/>
          </a:prstGeom>
          <a:solidFill>
            <a:srgbClr val="1E3220"/>
          </a:solidFill>
          <a:ln/>
          <a:effectLst>
            <a:outerShdw sx="100000" sy="100000" kx="0" ky="0" algn="bl" rotWithShape="0" blurRad="1016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9160" y="24323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285232" y="24505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Visualizaciones finales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85232" y="27706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FC8"/>
                </a:solidFill>
              </a:rPr>
              <a:t>Mapa coroplético animado · Scatter de correlación · Serie de tiempo dual · Mapa de clusters.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7472" y="4572000"/>
            <a:ext cx="8458200" cy="36576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E8DF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historia ya está en los datos. La visualización la va a hacer visible.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62618"/>
          </a:solidFill>
          <a:ln w="12700">
            <a:solidFill>
              <a:srgbClr val="16261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0" y="4928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10 / 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" y="492861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C59"/>
                </a:solidFill>
              </a:rPr>
              <a:t>La Frontera que Avanza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BASES DE DATOS — PRODUCCIÓN PECUARIA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</a:rPr>
              <a:t>Nueva fuente integrada en Fase 2: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25603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161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143000"/>
            <a:ext cx="5943600" cy="47548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121615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Producción Pecuaria — SIAP (Datos Abiertos)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91640"/>
            <a:ext cx="2560320" cy="47548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7647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Cobertura temporal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1691640"/>
            <a:ext cx="5943600" cy="47548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76479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2006–2022 + 2024  (2023 AUSENTE — ver Hallazgo 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40280"/>
            <a:ext cx="2560320" cy="47548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3134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Granularidad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240280"/>
            <a:ext cx="5943600" cy="47548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231343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Estado → Municipio × Especie × Producto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788920"/>
            <a:ext cx="2560320" cy="47548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86207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Especies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2788920"/>
            <a:ext cx="5943600" cy="47548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0" y="286207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Bovino · Porcino · Ave · Ovino · Caprino · Guajolote · Abeja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337560"/>
            <a:ext cx="2560320" cy="475488"/>
          </a:xfrm>
          <a:prstGeom prst="rect">
            <a:avLst/>
          </a:prstGeom>
          <a:solidFill>
            <a:srgbClr val="79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41071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Variables clave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337560"/>
            <a:ext cx="5943600" cy="47548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0" y="341071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Volumen (ton) · Cabezas sacrificadas · Valor (MXN) · Precio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886200"/>
            <a:ext cx="2560320" cy="47548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9593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Registros totales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886200"/>
            <a:ext cx="5943600" cy="47548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26080" y="395935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~497,000 filas en 18 archivos CSV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320540"/>
            <a:ext cx="8595360" cy="475488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338828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71C1C"/>
                </a:solidFill>
              </a:rPr>
              <a:t>⚠  El gobierno omitió 2023 de los datos abiertos ganaderos — un año con deforestación récord según GFW (241k ha). El dato ausente es una hipótesis en sí mismo.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" y="49057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Deforestación México · Ciencias de Datos · 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905756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ETAPA DE FILTRADO Y PREPROCESAMIENTO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777240"/>
            <a:ext cx="283464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79552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Decisiones de filtrado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234440"/>
            <a:ext cx="73152" cy="4114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2344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Umbral GFW = 30%: estándar para bosques tropicales densos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874520"/>
            <a:ext cx="73152" cy="4114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8745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Enfoque en Bovino/Carne: driver primario de deforestación tropical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2514600"/>
            <a:ext cx="73152" cy="4114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5146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Ventana 2006–2022: período con los 3 datasets completos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3154680"/>
            <a:ext cx="73152" cy="4114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15468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Eliminar duplicado "Ciudad de México / D.F." en ganadería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3794760"/>
            <a:ext cx="73152" cy="4114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37947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Solo estados con ≥5 años de datos continuos en panel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777240"/>
            <a:ext cx="283464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73552" y="79552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Eliminación de ruido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3552" y="1234440"/>
            <a:ext cx="73152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01568" y="12344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Rolling mean 3 años sobre serie nacional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3552" y="1874520"/>
            <a:ext cx="73152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01568" y="18745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Separa tendencia de variabilidad climática anual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3552" y="2514600"/>
            <a:ext cx="73152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01568" y="25146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Permite identificar cambios estructurales vs. anomalías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777240"/>
            <a:ext cx="283464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79552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Normalización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1234440"/>
            <a:ext cx="73152" cy="4114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12344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Normalización de nombres de estados para merge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91072" y="1874520"/>
            <a:ext cx="73152" cy="4114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18745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Eliminación de acentos y espacios extra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2514600"/>
            <a:ext cx="73152" cy="4114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25146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StandardScaler para reducción dimensional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91072" y="3154680"/>
            <a:ext cx="73152" cy="4114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315468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log(1+x) en datos con distribución lognormal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" y="49057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Deforestación México · Ciencias de Datos · 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4905756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DISTRIBUCIONES PARAMÉTRICAS E INTERVALOS DE CONFIANZA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_04_distribu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77240"/>
            <a:ext cx="5303520" cy="2194560"/>
          </a:xfrm>
          <a:prstGeom prst="rect">
            <a:avLst/>
          </a:prstGeom>
        </p:spPr>
      </p:pic>
      <p:pic>
        <p:nvPicPr>
          <p:cNvPr id="6" name="Picture 5" descr="F2_05_intervalos_confianz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3063240"/>
            <a:ext cx="5303520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80467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5100"/>
                </a:solidFill>
              </a:rPr>
              <a:t>Resultado: Distribución Lognormal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1704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Shapiro-Wilk rechaza normalidad (p&lt;0.05)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1581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KS-test: Lognormal es el mejor ajuste (p&gt;0.05)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99339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Consistente con distribuciones de eventos ambientales extremos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2404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Cola larga explica el pico anómalo de 2019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3774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</a:rPr>
              <a:t>Intervalos de Confianza (IC 95%)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74320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Media nacional: 212,466 ha/año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3154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IC 95% paramétrico: [175k — 250k] 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35661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Bootstrap 10,000 muestras sobre r(bovino, deforestación)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3977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IC 95% bootstrap confirma significancia estadística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49057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Deforestación México · Ciencias de Datos ·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905756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TESTS DE HIPÓTESIS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_06_tests_hipot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77240"/>
            <a:ext cx="5486400" cy="4160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60720" y="777240"/>
            <a:ext cx="3200400" cy="132588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33872" y="822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TEST 1: Bovino ↔ Deforestación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3872" y="114300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H₀: r=0
Pearson + Spearman
Resultado: Ver notebook para p-value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0" y="2194560"/>
            <a:ext cx="3200400" cy="13258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22402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TEST 2: Cambio de período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25603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H₀: media(06-13) = media(14-22)
t-test + Mann-Whitney U
Per.1: 196k ha/yr  Per.2: 234k ha/yr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3611880"/>
            <a:ext cx="3200400" cy="13258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3657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TEST 3: Subreporte gubernamental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3872" y="39776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Gobierno ≈ 40-55% de GFW
2019: Gob=104k vs GFW=327k
Discrepancia: 223k ha no reconocidas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49057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Deforestación México · Ciencias de Datos · 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905756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PRUEBA A/B — ALTA vs BAJA GANADERÍA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79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_07_prueba_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77240"/>
            <a:ext cx="59436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80467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95548"/>
                </a:solidFill>
              </a:rPr>
              <a:t>Diseño del experimento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143000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• Grupo A: estados con ≥ mediana de cabezas bovinas sacrificadas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00200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• Grupo B: estados con &lt; mediana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057400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• Métrica: pérdida forestal promedio anual (ha/año)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514600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• H₀: media(A) = media(B)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971800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• H₁: media(A) &gt; media(B)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3375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95548"/>
                </a:solidFill>
              </a:rPr>
              <a:t>Resultados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6576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t-test (Welch) + Mann-Whitney U
p-value → ver notebook
Conclusión: los estados con alta ganadería muestran mayor pérdida forestal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49057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Deforestación México · Ciencias de Datos · 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905756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GRAFOS — RED DE CORRELACIÓN ENTRE ESTADOS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_08_grafo_corre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49808"/>
            <a:ext cx="57607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804672"/>
            <a:ext cx="2880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</a:rPr>
              <a:t>Construcción del grafo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143000"/>
            <a:ext cx="28803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Nodos = 32 estados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00200"/>
            <a:ext cx="28803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Arista = Pearson r &gt; 0.6 entre series temporales 2001-2023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057400"/>
            <a:ext cx="28803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Tamaño de nodo = pérdida total acumulada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14600"/>
            <a:ext cx="28803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Color = categoría de riesgo (Bajo/Moderado/Alto/Crítico)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926080"/>
            <a:ext cx="2880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</a:rPr>
              <a:t>Interpretación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291840"/>
            <a:ext cx="2880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Corredor del Golfo (Campeche-Tabasco-Veracruz-Chiapas): altamente interconectado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840480"/>
            <a:ext cx="2880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Estados del norte: patrones desacoplados del sureste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389120"/>
            <a:ext cx="2880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Centralidad de grado revela los estados con sincronía de deforestación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49057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Deforestación México · Ciencias de Datos · 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905756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REDUCCIÓN DE DIMENSIONALIDAD — CON VARIABLES GANADERAS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_09_reduccion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49808"/>
            <a:ext cx="6400800" cy="2377440"/>
          </a:xfrm>
          <a:prstGeom prst="rect">
            <a:avLst/>
          </a:prstGeom>
        </p:spPr>
      </p:pic>
      <p:pic>
        <p:nvPicPr>
          <p:cNvPr id="6" name="Picture 5" descr="F2_10_pca_bi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3200400"/>
            <a:ext cx="3474720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80467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PCA, UMAP y t-SNE con variables: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170432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17 años de pérdida forestal (2006-2022)
• 17 años de ganadería bovina por estado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Hallazgo clave: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Al agregar ganadería bovina a la reducción dimensional, los estados Críticos se separan más claramente del resto, especialmente en PC1.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321868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Biplot PCA: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547872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Las flechas de pérdida forestal (rojo) y ganadería bovina (café) apuntan en direcciones similares, sugiriendo covariación positiva.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9057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Deforestación México · Ciencias de Datos ·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905756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ANONIMIZACIÓN DE DATOS — k-ANONIMATO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_11_anonim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77240"/>
            <a:ext cx="5486400" cy="2194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8046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</a:rPr>
              <a:t>¿Por qué anonimizar?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170432"/>
            <a:ext cx="3200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Los datos ganaderos llegan a nivel municipio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627632"/>
            <a:ext cx="3200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Un productor grande en un municipio pequeño es identificable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084832"/>
            <a:ext cx="3200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• Aplica en cualquier proyecto de ciencia de datos con datos sensibles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5146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</a:rPr>
              <a:t>Método: k-anonimato (k=5)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85292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Si un estado tiene &lt; 5 municipios con datos bovinos, se agrupan en "Municipios agrupados". Preserva la estadística estatal sin exponer productores individuales.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3063240"/>
            <a:ext cx="5303520" cy="34747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308152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Métrica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08152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308152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Después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410712"/>
            <a:ext cx="530352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" y="3429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Registros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429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~2,400 filas municipales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429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~800-1,200 filas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3730752"/>
            <a:ext cx="5303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8600" y="37490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Granularidad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37490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Municipio identificable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7490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Estado o "Agrupado"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4050792"/>
            <a:ext cx="5303520" cy="3200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" y="4069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Agregados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4069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Preservados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4069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Preservados (sin pérdida)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" y="49057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Deforestación México · Ciencias de Datos · 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905756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HIPÓTESIS FINALES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" y="749808"/>
            <a:ext cx="640080" cy="9784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102412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H₁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749808"/>
            <a:ext cx="8229600" cy="97840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7863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46E7A"/>
                </a:solidFill>
              </a:rPr>
              <a:t>¿La expansión agrícola impulsa la deforestación?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786384"/>
            <a:ext cx="2926080" cy="27432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804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PARCIALMENTE CONFIRMADA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097280"/>
            <a:ext cx="8001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Los cultivos de exportación (palma +495%, aguacate +180%) crecen junto con la pérdida forestal, pero la correlación total agricultura-deforestación es débil (r=0.245). El cambio de uso no es uniforme.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" y="1819656"/>
            <a:ext cx="640080" cy="9784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" y="209397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H₂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819656"/>
            <a:ext cx="8229600" cy="97840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85623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46E7A"/>
                </a:solidFill>
              </a:rPr>
              <a:t>¿El sureste es la región más afectada?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1856232"/>
            <a:ext cx="2926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187452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CONFIRMADA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67128"/>
            <a:ext cx="8001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Campeche (906k ha), Chiapas (783k), Quintana Roo (599k) y Veracruz (496k) acumulan el 59% de la pérdida nacional. Los grafos de correlación confirman el "corredor del Golfo" como zona crítica.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" y="2889504"/>
            <a:ext cx="640080" cy="9784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316382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H₃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2889504"/>
            <a:ext cx="8229600" cy="97840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292608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46E7A"/>
                </a:solidFill>
              </a:rPr>
              <a:t>¿Existe tendencia creciente vinculada al cambio de uso?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2926080"/>
            <a:ext cx="2926080" cy="2743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29443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CONFIRMADA CON MATIZ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236976"/>
            <a:ext cx="8001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La tendencia general sube 2001-2019 (pico 327k ha). El año 2019 (cambio de gobierno + cancelación de PRONAFOR) es un outlier Z=+2.5. Post-2019 hay ligera recuperación.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" y="3959352"/>
            <a:ext cx="640080" cy="978408"/>
          </a:xfrm>
          <a:prstGeom prst="rect">
            <a:avLst/>
          </a:prstGeom>
          <a:solidFill>
            <a:srgbClr val="79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" y="42336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H₄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3959352"/>
            <a:ext cx="8229600" cy="97840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399592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46E7A"/>
                </a:solidFill>
              </a:rPr>
              <a:t>¿La ganadería bovina es un driver de deforestación?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3995928"/>
            <a:ext cx="2926080" cy="274320"/>
          </a:xfrm>
          <a:prstGeom prst="rect">
            <a:avLst/>
          </a:prstGeom>
          <a:solidFill>
            <a:srgbClr val="79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0" y="40142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SOPORTADA, NO CONCLUYENTE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306824"/>
            <a:ext cx="8001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La prueba A/B muestra mayor pérdida en estados ganaderos. Pastizales = categoría destino del bosque más frecuente. El gobierno omitió datos ganaderos de 2023. Correlación directa requiere datos municipales más granulares.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" y="4905756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Deforestación México · Ciencias de Datos · 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4905756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777240"/>
            <a:ext cx="73152" cy="6858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</a:rPr>
              <a:t>4.88 millones de 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24712"/>
            <a:ext cx="8092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perdidas en México entre 2001 y 2023 — equivalente a ~112 veces la CDMX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627632"/>
            <a:ext cx="73152" cy="6858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5506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5100"/>
                </a:solidFill>
              </a:rPr>
              <a:t>2019: el año sin explicación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75104"/>
            <a:ext cx="8092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Pico de 327k ha coincide con cambio de gobierno y cancelación de PRONAFOR. El outlier más significativo de la serie.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478024"/>
            <a:ext cx="73152" cy="685800"/>
          </a:xfrm>
          <a:prstGeom prst="rect">
            <a:avLst/>
          </a:prstGeom>
          <a:solidFill>
            <a:srgbClr val="79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545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95548"/>
                </a:solidFill>
              </a:rPr>
              <a:t>Ganadería bovina como driver encubierto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496"/>
            <a:ext cx="8092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Los datos de destino del bosque muestran que Pastizales es la categoría predominante. El gobierno omitiogó los datos ganaderos de 2023.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3328416"/>
            <a:ext cx="73152" cy="685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5584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Subreporte sistemático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75888"/>
            <a:ext cx="8092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El gobierno reconoce entre el 32% y 63% de lo que los satélites detectan. En 2019: 223,000 ha desaparecidas sin reconocimiento oficial.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4178808"/>
            <a:ext cx="73152" cy="6858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0624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</a:rPr>
              <a:t>La deforestación no es aleatoria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26280"/>
            <a:ext cx="8092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Los grafos y la reducción dimensional revelan corredores y clusters de deforestación sincronizada en el Golfo de México.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777740"/>
            <a:ext cx="8366760" cy="182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796028"/>
            <a:ext cx="8366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Repositorio: github.com/YahwthaniMG/Deforestacion_Mexico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Frontera que Avanza</dc:title>
  <dc:subject>PptxGenJS Presentation</dc:subject>
  <dc:creator>PptxGenJS</dc:creator>
  <cp:lastModifiedBy>PptxGenJS</cp:lastModifiedBy>
  <cp:revision>1</cp:revision>
  <dcterms:created xsi:type="dcterms:W3CDTF">2026-03-06T01:25:57Z</dcterms:created>
  <dcterms:modified xsi:type="dcterms:W3CDTF">2026-03-06T01:25:57Z</dcterms:modified>
</cp:coreProperties>
</file>